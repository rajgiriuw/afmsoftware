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65" r:id="rId5"/>
    <p:sldId id="257" r:id="rId6"/>
    <p:sldId id="259" r:id="rId7"/>
    <p:sldId id="256" r:id="rId8"/>
    <p:sldId id="260" r:id="rId9"/>
    <p:sldId id="273" r:id="rId10"/>
    <p:sldId id="258" r:id="rId11"/>
    <p:sldId id="262" r:id="rId12"/>
    <p:sldId id="263" r:id="rId13"/>
    <p:sldId id="264" r:id="rId14"/>
    <p:sldId id="266" r:id="rId15"/>
    <p:sldId id="261" r:id="rId16"/>
    <p:sldId id="267" r:id="rId17"/>
    <p:sldId id="268" r:id="rId18"/>
    <p:sldId id="269" r:id="rId19"/>
    <p:sldId id="270" r:id="rId20"/>
    <p:sldId id="271" r:id="rId21"/>
    <p:sldId id="272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4" autoAdjust="0"/>
    <p:restoredTop sz="94660"/>
  </p:normalViewPr>
  <p:slideViewPr>
    <p:cSldViewPr snapToGrid="0">
      <p:cViewPr varScale="1">
        <p:scale>
          <a:sx n="120" d="100"/>
          <a:sy n="120" d="100"/>
        </p:scale>
        <p:origin x="222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jiv Giridharagopal" userId="747bec5b-a82a-4be1-aac4-0b22cd704db5" providerId="ADAL" clId="{3B2CE72E-039C-4485-AA77-7CFE11AC59C5}"/>
    <pc:docChg chg="custSel modSld sldOrd">
      <pc:chgData name="Rajiv Giridharagopal" userId="747bec5b-a82a-4be1-aac4-0b22cd704db5" providerId="ADAL" clId="{3B2CE72E-039C-4485-AA77-7CFE11AC59C5}" dt="2024-04-10T20:21:53.541" v="316" actId="115"/>
      <pc:docMkLst>
        <pc:docMk/>
      </pc:docMkLst>
      <pc:sldChg chg="modSp mod">
        <pc:chgData name="Rajiv Giridharagopal" userId="747bec5b-a82a-4be1-aac4-0b22cd704db5" providerId="ADAL" clId="{3B2CE72E-039C-4485-AA77-7CFE11AC59C5}" dt="2024-04-10T19:39:43.316" v="66" actId="20577"/>
        <pc:sldMkLst>
          <pc:docMk/>
          <pc:sldMk cId="2550918251" sldId="257"/>
        </pc:sldMkLst>
        <pc:spChg chg="mod">
          <ac:chgData name="Rajiv Giridharagopal" userId="747bec5b-a82a-4be1-aac4-0b22cd704db5" providerId="ADAL" clId="{3B2CE72E-039C-4485-AA77-7CFE11AC59C5}" dt="2024-04-10T19:39:43.316" v="66" actId="20577"/>
          <ac:spMkLst>
            <pc:docMk/>
            <pc:sldMk cId="2550918251" sldId="257"/>
            <ac:spMk id="7" creationId="{00000000-0000-0000-0000-000000000000}"/>
          </ac:spMkLst>
        </pc:spChg>
      </pc:sldChg>
      <pc:sldChg chg="addSp mod">
        <pc:chgData name="Rajiv Giridharagopal" userId="747bec5b-a82a-4be1-aac4-0b22cd704db5" providerId="ADAL" clId="{3B2CE72E-039C-4485-AA77-7CFE11AC59C5}" dt="2024-04-10T19:39:15.712" v="32" actId="11529"/>
        <pc:sldMkLst>
          <pc:docMk/>
          <pc:sldMk cId="3492491097" sldId="258"/>
        </pc:sldMkLst>
        <pc:cxnChg chg="add">
          <ac:chgData name="Rajiv Giridharagopal" userId="747bec5b-a82a-4be1-aac4-0b22cd704db5" providerId="ADAL" clId="{3B2CE72E-039C-4485-AA77-7CFE11AC59C5}" dt="2024-04-10T19:39:15.712" v="32" actId="11529"/>
          <ac:cxnSpMkLst>
            <pc:docMk/>
            <pc:sldMk cId="3492491097" sldId="258"/>
            <ac:cxnSpMk id="8" creationId="{D40DE9B2-0543-F961-E557-685BE9CDAD88}"/>
          </ac:cxnSpMkLst>
        </pc:cxnChg>
      </pc:sldChg>
      <pc:sldChg chg="modSp mod ord">
        <pc:chgData name="Rajiv Giridharagopal" userId="747bec5b-a82a-4be1-aac4-0b22cd704db5" providerId="ADAL" clId="{3B2CE72E-039C-4485-AA77-7CFE11AC59C5}" dt="2024-04-10T19:39:51.652" v="70" actId="20577"/>
        <pc:sldMkLst>
          <pc:docMk/>
          <pc:sldMk cId="2908035939" sldId="259"/>
        </pc:sldMkLst>
        <pc:spChg chg="mod">
          <ac:chgData name="Rajiv Giridharagopal" userId="747bec5b-a82a-4be1-aac4-0b22cd704db5" providerId="ADAL" clId="{3B2CE72E-039C-4485-AA77-7CFE11AC59C5}" dt="2024-04-10T19:39:51.652" v="70" actId="20577"/>
          <ac:spMkLst>
            <pc:docMk/>
            <pc:sldMk cId="2908035939" sldId="259"/>
            <ac:spMk id="2" creationId="{00000000-0000-0000-0000-000000000000}"/>
          </ac:spMkLst>
        </pc:spChg>
      </pc:sldChg>
      <pc:sldChg chg="modSp mod">
        <pc:chgData name="Rajiv Giridharagopal" userId="747bec5b-a82a-4be1-aac4-0b22cd704db5" providerId="ADAL" clId="{3B2CE72E-039C-4485-AA77-7CFE11AC59C5}" dt="2024-04-10T20:21:53.541" v="316" actId="115"/>
        <pc:sldMkLst>
          <pc:docMk/>
          <pc:sldMk cId="3882129561" sldId="264"/>
        </pc:sldMkLst>
        <pc:spChg chg="mod">
          <ac:chgData name="Rajiv Giridharagopal" userId="747bec5b-a82a-4be1-aac4-0b22cd704db5" providerId="ADAL" clId="{3B2CE72E-039C-4485-AA77-7CFE11AC59C5}" dt="2024-04-10T20:21:53.541" v="316" actId="115"/>
          <ac:spMkLst>
            <pc:docMk/>
            <pc:sldMk cId="3882129561" sldId="264"/>
            <ac:spMk id="6" creationId="{00000000-0000-0000-0000-000000000000}"/>
          </ac:spMkLst>
        </pc:spChg>
      </pc:sldChg>
      <pc:sldChg chg="modSp mod">
        <pc:chgData name="Rajiv Giridharagopal" userId="747bec5b-a82a-4be1-aac4-0b22cd704db5" providerId="ADAL" clId="{3B2CE72E-039C-4485-AA77-7CFE11AC59C5}" dt="2024-04-10T20:15:57.252" v="249" actId="20577"/>
        <pc:sldMkLst>
          <pc:docMk/>
          <pc:sldMk cId="3761990355" sldId="265"/>
        </pc:sldMkLst>
        <pc:spChg chg="mod">
          <ac:chgData name="Rajiv Giridharagopal" userId="747bec5b-a82a-4be1-aac4-0b22cd704db5" providerId="ADAL" clId="{3B2CE72E-039C-4485-AA77-7CFE11AC59C5}" dt="2024-04-10T19:19:48.690" v="31" actId="20577"/>
          <ac:spMkLst>
            <pc:docMk/>
            <pc:sldMk cId="3761990355" sldId="265"/>
            <ac:spMk id="2" creationId="{00000000-0000-0000-0000-000000000000}"/>
          </ac:spMkLst>
        </pc:spChg>
        <pc:spChg chg="mod">
          <ac:chgData name="Rajiv Giridharagopal" userId="747bec5b-a82a-4be1-aac4-0b22cd704db5" providerId="ADAL" clId="{3B2CE72E-039C-4485-AA77-7CFE11AC59C5}" dt="2024-04-10T20:15:57.252" v="249" actId="20577"/>
          <ac:spMkLst>
            <pc:docMk/>
            <pc:sldMk cId="3761990355" sldId="265"/>
            <ac:spMk id="5" creationId="{00000000-0000-0000-0000-000000000000}"/>
          </ac:spMkLst>
        </pc:spChg>
        <pc:picChg chg="mod">
          <ac:chgData name="Rajiv Giridharagopal" userId="747bec5b-a82a-4be1-aac4-0b22cd704db5" providerId="ADAL" clId="{3B2CE72E-039C-4485-AA77-7CFE11AC59C5}" dt="2024-04-10T20:15:44.745" v="205" actId="14100"/>
          <ac:picMkLst>
            <pc:docMk/>
            <pc:sldMk cId="3761990355" sldId="265"/>
            <ac:picMk id="4" creationId="{00000000-0000-0000-0000-000000000000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9AA8DA-9FF3-428C-8F84-4B0F6C0728D0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63819B-F854-4AD0-9668-62E5365B2C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70204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9AA8DA-9FF3-428C-8F84-4B0F6C0728D0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63819B-F854-4AD0-9668-62E5365B2C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14929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9AA8DA-9FF3-428C-8F84-4B0F6C0728D0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63819B-F854-4AD0-9668-62E5365B2C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57597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9AA8DA-9FF3-428C-8F84-4B0F6C0728D0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63819B-F854-4AD0-9668-62E5365B2C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76875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9AA8DA-9FF3-428C-8F84-4B0F6C0728D0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63819B-F854-4AD0-9668-62E5365B2C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48763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9AA8DA-9FF3-428C-8F84-4B0F6C0728D0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63819B-F854-4AD0-9668-62E5365B2C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38344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9AA8DA-9FF3-428C-8F84-4B0F6C0728D0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63819B-F854-4AD0-9668-62E5365B2C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91331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9AA8DA-9FF3-428C-8F84-4B0F6C0728D0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63819B-F854-4AD0-9668-62E5365B2C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05073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9AA8DA-9FF3-428C-8F84-4B0F6C0728D0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63819B-F854-4AD0-9668-62E5365B2C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13472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9AA8DA-9FF3-428C-8F84-4B0F6C0728D0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63819B-F854-4AD0-9668-62E5365B2C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17839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9AA8DA-9FF3-428C-8F84-4B0F6C0728D0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63819B-F854-4AD0-9668-62E5365B2C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32413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9AA8DA-9FF3-428C-8F84-4B0F6C0728D0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63819B-F854-4AD0-9668-62E5365B2C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61118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7482016" cy="549275"/>
          </a:xfrm>
        </p:spPr>
        <p:txBody>
          <a:bodyPr>
            <a:normAutofit fontScale="90000"/>
          </a:bodyPr>
          <a:lstStyle/>
          <a:p>
            <a:r>
              <a:rPr lang="en-US" dirty="0"/>
              <a:t>Moku business for SKPM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2450" y="966065"/>
            <a:ext cx="7086493" cy="2675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260389" y="3880348"/>
            <a:ext cx="9391135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Purpose:</a:t>
            </a:r>
          </a:p>
          <a:p>
            <a:pPr marL="342900" indent="-342900">
              <a:buAutoNum type="arabicParenR"/>
            </a:pPr>
            <a:r>
              <a:rPr lang="en-US" dirty="0" smtClean="0"/>
              <a:t>Advantages </a:t>
            </a:r>
            <a:r>
              <a:rPr lang="en-US" dirty="0"/>
              <a:t>are: 	</a:t>
            </a:r>
          </a:p>
          <a:p>
            <a:pPr marL="800100" lvl="1" indent="-342900">
              <a:buAutoNum type="alphaLcParenR"/>
            </a:pPr>
            <a:r>
              <a:rPr lang="en-US" dirty="0"/>
              <a:t>Generally quite fast, according to Stefan Weber and others</a:t>
            </a:r>
          </a:p>
          <a:p>
            <a:pPr marL="800100" lvl="1" indent="-342900">
              <a:buAutoNum type="alphaLcParenR"/>
            </a:pPr>
            <a:r>
              <a:rPr lang="en-US" dirty="0"/>
              <a:t>Can achieve good time-resolution as a result for point spectroscopy (cross-sections and related)</a:t>
            </a:r>
          </a:p>
          <a:p>
            <a:pPr marL="342900" indent="-342900">
              <a:buAutoNum type="arabicParenR"/>
            </a:pPr>
            <a:r>
              <a:rPr lang="en-US" dirty="0" err="1"/>
              <a:t>Moku</a:t>
            </a:r>
            <a:r>
              <a:rPr lang="en-US" dirty="0"/>
              <a:t> has other specific non-SKPM advantages</a:t>
            </a:r>
          </a:p>
          <a:p>
            <a:pPr marL="800100" lvl="1" indent="-342900">
              <a:buAutoNum type="alphaLcParenR"/>
            </a:pPr>
            <a:r>
              <a:rPr lang="en-US" dirty="0"/>
              <a:t>Integrated oscilloscope + digitizer (Gage card) + waveform function generator + LIA so it’s many instruments in 1</a:t>
            </a:r>
          </a:p>
          <a:p>
            <a:pPr marL="800100" lvl="1" indent="-342900">
              <a:buAutoNum type="alphaLcParenR"/>
            </a:pPr>
            <a:r>
              <a:rPr lang="en-US" dirty="0" smtClean="0"/>
              <a:t>Python SDK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19903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357" y="129786"/>
            <a:ext cx="5601482" cy="310558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848865" y="82378"/>
            <a:ext cx="589005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Function AM-SKPM feedback using the </a:t>
            </a:r>
            <a:r>
              <a:rPr lang="en-US" dirty="0" err="1"/>
              <a:t>Moku</a:t>
            </a:r>
            <a:r>
              <a:rPr lang="en-US" dirty="0"/>
              <a:t> instead of the ARC.</a:t>
            </a:r>
          </a:p>
          <a:p>
            <a:endParaRPr lang="en-US" dirty="0"/>
          </a:p>
          <a:p>
            <a:r>
              <a:rPr lang="en-US" dirty="0"/>
              <a:t>Proof of principle that the </a:t>
            </a:r>
            <a:r>
              <a:rPr lang="en-US" dirty="0" err="1"/>
              <a:t>Moku</a:t>
            </a:r>
            <a:r>
              <a:rPr lang="en-US" dirty="0"/>
              <a:t> is fast enough to function in this paradigm.</a:t>
            </a:r>
          </a:p>
          <a:p>
            <a:endParaRPr lang="en-US" dirty="0"/>
          </a:p>
          <a:p>
            <a:r>
              <a:rPr lang="en-US" dirty="0"/>
              <a:t>Here, applying a square wave to the substrate and measuring the signal using the </a:t>
            </a:r>
            <a:r>
              <a:rPr lang="en-US" dirty="0" err="1"/>
              <a:t>Moku</a:t>
            </a:r>
            <a:r>
              <a:rPr lang="en-US" dirty="0"/>
              <a:t> 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1232" y="3310789"/>
            <a:ext cx="5601607" cy="239411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877697" y="3002691"/>
            <a:ext cx="4497860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FM-SKPM is not quite as smooth yet if using the Moku internal LIA!</a:t>
            </a:r>
          </a:p>
          <a:p>
            <a:endParaRPr lang="en-US" dirty="0"/>
          </a:p>
          <a:p>
            <a:r>
              <a:rPr lang="en-US" dirty="0" err="1"/>
              <a:t>Moku</a:t>
            </a:r>
            <a:r>
              <a:rPr lang="en-US" dirty="0"/>
              <a:t> internal LIA for both the amplitude detection, and a second LIA that takes phase from first LIA as the input.</a:t>
            </a:r>
          </a:p>
          <a:p>
            <a:endParaRPr lang="en-US" dirty="0"/>
          </a:p>
          <a:p>
            <a:r>
              <a:rPr lang="en-US" dirty="0"/>
              <a:t>This is how we do SKPM now, except we use the LIA from the ARC and spoof an output for the phase to the SRS </a:t>
            </a:r>
            <a:r>
              <a:rPr lang="en-US" dirty="0" err="1"/>
              <a:t>Lockin</a:t>
            </a:r>
            <a:r>
              <a:rPr lang="en-US" dirty="0"/>
              <a:t>. I’m trying to get around that issue. </a:t>
            </a:r>
          </a:p>
          <a:p>
            <a:r>
              <a:rPr lang="en-US" dirty="0"/>
              <a:t>Here, it tracks an input but gains are weird, as is the magnitude…</a:t>
            </a:r>
          </a:p>
        </p:txBody>
      </p:sp>
    </p:spTree>
    <p:extLst>
      <p:ext uri="{BB962C8B-B14F-4D97-AF65-F5344CB8AC3E}">
        <p14:creationId xmlns:p14="http://schemas.microsoft.com/office/powerpoint/2010/main" val="25509182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FM version 2, like old code (using </a:t>
            </a:r>
            <a:r>
              <a:rPr lang="en-US" b="1" dirty="0"/>
              <a:t>ARC </a:t>
            </a:r>
            <a:r>
              <a:rPr lang="en-US" dirty="0"/>
              <a:t>internal LIA to spoof theta out)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80336" y="1634613"/>
            <a:ext cx="5992061" cy="332468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919784" y="1309816"/>
            <a:ext cx="54987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Finally working</a:t>
            </a:r>
            <a:r>
              <a:rPr lang="en-US" dirty="0"/>
              <a:t>! But the DC offset is way off…</a:t>
            </a:r>
          </a:p>
          <a:p>
            <a:r>
              <a:rPr lang="en-US" dirty="0"/>
              <a:t>Also have to use negative P gains for some reason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6834" y="2114175"/>
            <a:ext cx="7535327" cy="537285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6097" y="4676311"/>
            <a:ext cx="3620005" cy="6649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80359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7256" y="164757"/>
            <a:ext cx="5189706" cy="3328086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407" y="3751861"/>
            <a:ext cx="7267162" cy="2554203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7059827" y="584886"/>
            <a:ext cx="454728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Examples of the setup for AM-SKPM</a:t>
            </a:r>
          </a:p>
          <a:p>
            <a:endParaRPr lang="en-US" dirty="0"/>
          </a:p>
          <a:p>
            <a:r>
              <a:rPr lang="en-US" dirty="0"/>
              <a:t>Unfortunately you can’t really save the settings on here. Hence the need for Python interface (which works! I just want to get this working via the software where I can quickly iterate)</a:t>
            </a:r>
          </a:p>
        </p:txBody>
      </p:sp>
    </p:spTree>
    <p:extLst>
      <p:ext uri="{BB962C8B-B14F-4D97-AF65-F5344CB8AC3E}">
        <p14:creationId xmlns:p14="http://schemas.microsoft.com/office/powerpoint/2010/main" val="18241538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7729"/>
            <a:ext cx="6930189" cy="367786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981258"/>
            <a:ext cx="7261287" cy="2435584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71317" y="58139"/>
            <a:ext cx="1400370" cy="428684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122508" y="271849"/>
            <a:ext cx="2529016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This setup works for AM-SKPM, using the first LIA on the </a:t>
            </a:r>
            <a:r>
              <a:rPr lang="en-US" dirty="0" err="1"/>
              <a:t>Moku</a:t>
            </a:r>
            <a:r>
              <a:rPr lang="en-US" dirty="0"/>
              <a:t> to track a potential.</a:t>
            </a:r>
          </a:p>
          <a:p>
            <a:endParaRPr lang="en-US" dirty="0"/>
          </a:p>
          <a:p>
            <a:r>
              <a:rPr lang="en-US" dirty="0"/>
              <a:t>Sometimes the LIA gets in a weird state where it’s not really reading anything and you have to reacquire via the PLL</a:t>
            </a:r>
          </a:p>
        </p:txBody>
      </p:sp>
    </p:spTree>
    <p:extLst>
      <p:ext uri="{BB962C8B-B14F-4D97-AF65-F5344CB8AC3E}">
        <p14:creationId xmlns:p14="http://schemas.microsoft.com/office/powerpoint/2010/main" val="36525370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31388" y="111318"/>
            <a:ext cx="2898228" cy="131489"/>
          </a:xfrm>
        </p:spPr>
        <p:txBody>
          <a:bodyPr>
            <a:normAutofit fontScale="90000"/>
          </a:bodyPr>
          <a:lstStyle/>
          <a:p>
            <a:r>
              <a:rPr lang="en-US" sz="2000" b="1" dirty="0" smtClean="0">
                <a:solidFill>
                  <a:srgbClr val="FF0000"/>
                </a:solidFill>
              </a:rPr>
              <a:t>AM-</a:t>
            </a:r>
            <a:r>
              <a:rPr lang="en-US" sz="2000" b="1" dirty="0" err="1" smtClean="0">
                <a:solidFill>
                  <a:srgbClr val="FF0000"/>
                </a:solidFill>
              </a:rPr>
              <a:t>Moku</a:t>
            </a:r>
            <a:r>
              <a:rPr lang="en-US" sz="2000" b="1" dirty="0" smtClean="0">
                <a:solidFill>
                  <a:srgbClr val="FF0000"/>
                </a:solidFill>
              </a:rPr>
              <a:t> redone 2026</a:t>
            </a:r>
            <a:endParaRPr lang="en-US" sz="2000" b="1" dirty="0">
              <a:solidFill>
                <a:srgbClr val="FF0000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4904" t="18361" r="16769" b="21831"/>
          <a:stretch/>
        </p:blipFill>
        <p:spPr>
          <a:xfrm>
            <a:off x="0" y="283778"/>
            <a:ext cx="6323656" cy="322404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637283" y="252248"/>
            <a:ext cx="4075386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This is using the electric tune to drive things.</a:t>
            </a:r>
          </a:p>
          <a:p>
            <a:endParaRPr lang="en-US" dirty="0"/>
          </a:p>
          <a:p>
            <a:r>
              <a:rPr lang="en-US" dirty="0" smtClean="0"/>
              <a:t>Note that switching to AC coupling helps a lot. </a:t>
            </a:r>
          </a:p>
          <a:p>
            <a:endParaRPr lang="en-US" dirty="0"/>
          </a:p>
          <a:p>
            <a:r>
              <a:rPr lang="en-US" dirty="0" smtClean="0"/>
              <a:t>The existing gains in the </a:t>
            </a:r>
            <a:r>
              <a:rPr lang="en-US" dirty="0" err="1" smtClean="0"/>
              <a:t>Moku</a:t>
            </a:r>
            <a:r>
              <a:rPr lang="en-US" dirty="0" smtClean="0"/>
              <a:t> file work (300 I Gain)</a:t>
            </a:r>
          </a:p>
          <a:p>
            <a:r>
              <a:rPr lang="en-US" dirty="0" smtClean="0"/>
              <a:t>Note sometimes gets in weird loop and need -300 I Gain. This is when the PLL is 90 degrees out of phase with the signal, so you need to adjust the phase to compensate</a:t>
            </a:r>
          </a:p>
          <a:p>
            <a:endParaRPr lang="en-US" dirty="0"/>
          </a:p>
          <a:p>
            <a:r>
              <a:rPr lang="en-US" dirty="0" smtClean="0"/>
              <a:t>Should have Tip Bias set to 0 V before starting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8673" y="3638747"/>
            <a:ext cx="4721961" cy="3160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02321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Trying to integrate both AM and FM on same </a:t>
            </a:r>
            <a:r>
              <a:rPr lang="en-US" dirty="0" err="1"/>
              <a:t>multiinstrument</a:t>
            </a:r>
            <a:r>
              <a:rPr lang="en-US" dirty="0"/>
              <a:t> mode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004" y="1758143"/>
            <a:ext cx="10840963" cy="357237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8571" y="4827372"/>
            <a:ext cx="4216931" cy="210846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39049" y="5527589"/>
            <a:ext cx="281734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AM SKPM noise on graphite</a:t>
            </a:r>
          </a:p>
          <a:p>
            <a:r>
              <a:rPr lang="en-US" dirty="0"/>
              <a:t> 1ms time constant on LIA; 3 </a:t>
            </a:r>
            <a:r>
              <a:rPr lang="en-US" dirty="0" err="1"/>
              <a:t>ms</a:t>
            </a:r>
            <a:r>
              <a:rPr lang="en-US" dirty="0"/>
              <a:t> time constant-</a:t>
            </a:r>
            <a:r>
              <a:rPr lang="en-US" dirty="0">
                <a:sym typeface="Wingdings" panose="05000000000000000000" pitchFamily="2" charset="2"/>
              </a:rPr>
              <a:t></a:t>
            </a:r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27200" y="4910662"/>
            <a:ext cx="4018811" cy="1834259"/>
          </a:xfrm>
          <a:prstGeom prst="rect">
            <a:avLst/>
          </a:prstGeom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D40DE9B2-0543-F961-E557-685BE9CDAD88}"/>
              </a:ext>
            </a:extLst>
          </p:cNvPr>
          <p:cNvCxnSpPr>
            <a:stCxn id="6" idx="1"/>
          </p:cNvCxnSpPr>
          <p:nvPr/>
        </p:nvCxnSpPr>
        <p:spPr>
          <a:xfrm flipH="1" flipV="1">
            <a:off x="3977931" y="5765962"/>
            <a:ext cx="561118" cy="2232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924910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0181" y="180564"/>
            <a:ext cx="8248562" cy="4137672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7045" y="4110466"/>
            <a:ext cx="10097909" cy="360095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928101" y="180564"/>
            <a:ext cx="3396342" cy="175432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In this mode, only using the wave function generator and the SECOND LIA since first LIA is coming from the LIA.</a:t>
            </a:r>
          </a:p>
          <a:p>
            <a:endParaRPr lang="en-US" dirty="0"/>
          </a:p>
          <a:p>
            <a:r>
              <a:rPr lang="en-US" dirty="0"/>
              <a:t>More LIAs more problems</a:t>
            </a:r>
          </a:p>
        </p:txBody>
      </p:sp>
    </p:spTree>
    <p:extLst>
      <p:ext uri="{BB962C8B-B14F-4D97-AF65-F5344CB8AC3E}">
        <p14:creationId xmlns:p14="http://schemas.microsoft.com/office/powerpoint/2010/main" val="37648212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75771" y="0"/>
            <a:ext cx="111905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Heterodyne Setup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263611" y="774357"/>
            <a:ext cx="79989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Closer to working. Using only LIA3</a:t>
            </a:r>
          </a:p>
          <a:p>
            <a:r>
              <a:rPr lang="en-US" dirty="0"/>
              <a:t>Set manually with the </a:t>
            </a:r>
            <a:r>
              <a:rPr lang="en-US" dirty="0" err="1"/>
              <a:t>Moku</a:t>
            </a:r>
            <a:r>
              <a:rPr lang="en-US" dirty="0"/>
              <a:t> waveform generator + external summing amplifier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942703" y="115330"/>
            <a:ext cx="66808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Examples of using the sideband:</a:t>
            </a:r>
          </a:p>
          <a:p>
            <a:r>
              <a:rPr lang="en-US" dirty="0"/>
              <a:t>W1 = 80.826, w2=513.520, </a:t>
            </a:r>
            <a:r>
              <a:rPr lang="en-US" dirty="0" err="1"/>
              <a:t>wm</a:t>
            </a:r>
            <a:r>
              <a:rPr lang="en-US" dirty="0"/>
              <a:t>=432.694 kHz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103" y="1956547"/>
            <a:ext cx="6001588" cy="4658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37233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"/>
            <a:ext cx="10515600" cy="527222"/>
          </a:xfrm>
        </p:spPr>
        <p:txBody>
          <a:bodyPr>
            <a:normAutofit fontScale="90000"/>
          </a:bodyPr>
          <a:lstStyle/>
          <a:p>
            <a:r>
              <a:rPr lang="en-US" dirty="0"/>
              <a:t>Heterodyne setup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183" y="475543"/>
            <a:ext cx="3543795" cy="2743583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078" y="497343"/>
            <a:ext cx="1571844" cy="22863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949073" y="198757"/>
            <a:ext cx="4580238" cy="60324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These show the various detection schemes we could potentially use.</a:t>
            </a:r>
          </a:p>
          <a:p>
            <a:endParaRPr lang="en-US" sz="1600" dirty="0"/>
          </a:p>
          <a:p>
            <a:r>
              <a:rPr lang="en-US" sz="1600" dirty="0"/>
              <a:t>H2 is topo at first resonance, modulate at w2-w1, detect at w2</a:t>
            </a:r>
          </a:p>
          <a:p>
            <a:endParaRPr lang="en-US" sz="1600" dirty="0"/>
          </a:p>
          <a:p>
            <a:r>
              <a:rPr lang="en-US" sz="1600" dirty="0" err="1"/>
              <a:t>Moku</a:t>
            </a:r>
            <a:r>
              <a:rPr lang="en-US" sz="1600" dirty="0"/>
              <a:t> LIA sort of works.</a:t>
            </a:r>
          </a:p>
          <a:p>
            <a:endParaRPr lang="en-US" sz="1600" dirty="0"/>
          </a:p>
          <a:p>
            <a:r>
              <a:rPr lang="en-US" sz="1600" dirty="0"/>
              <a:t>Some issues.</a:t>
            </a:r>
          </a:p>
          <a:p>
            <a:pPr marL="342900" indent="-342900">
              <a:buAutoNum type="arabicParenR"/>
            </a:pPr>
            <a:r>
              <a:rPr lang="en-US" sz="1600" dirty="0"/>
              <a:t>Having to use the “ARC Deflection” from the controller itself which is very noisy and might be filtered? Not sure. </a:t>
            </a:r>
          </a:p>
          <a:p>
            <a:pPr marL="342900" indent="-342900">
              <a:buAutoNum type="arabicParenR"/>
            </a:pPr>
            <a:r>
              <a:rPr lang="en-US" sz="1600" dirty="0"/>
              <a:t>Systematic drift in the signal unless you use weird gains. Similar to this case on the right</a:t>
            </a:r>
            <a:r>
              <a:rPr lang="en-US" sz="1600" dirty="0">
                <a:sym typeface="Wingdings" panose="05000000000000000000" pitchFamily="2" charset="2"/>
              </a:rPr>
              <a:t> which leads me to believe case 1 is the issue.</a:t>
            </a:r>
          </a:p>
          <a:p>
            <a:pPr marL="342900" indent="-342900">
              <a:buAutoNum type="arabicParenR"/>
            </a:pPr>
            <a:endParaRPr lang="en-US" sz="1600" dirty="0">
              <a:sym typeface="Wingdings" panose="05000000000000000000" pitchFamily="2" charset="2"/>
            </a:endParaRPr>
          </a:p>
          <a:p>
            <a:r>
              <a:rPr lang="en-US" sz="1600" b="1" u="sng" dirty="0">
                <a:sym typeface="Wingdings" panose="05000000000000000000" pitchFamily="2" charset="2"/>
              </a:rPr>
              <a:t>Next steps:</a:t>
            </a:r>
          </a:p>
          <a:p>
            <a:pPr marL="342900" indent="-342900">
              <a:buAutoNum type="arabicParenR"/>
            </a:pPr>
            <a:r>
              <a:rPr lang="en-US" sz="1600" dirty="0">
                <a:sym typeface="Wingdings" panose="05000000000000000000" pitchFamily="2" charset="2"/>
              </a:rPr>
              <a:t>Use the AFM head with raw deflection out (we have it available)</a:t>
            </a:r>
          </a:p>
          <a:p>
            <a:pPr marL="342900" indent="-342900">
              <a:buAutoNum type="arabicParenR"/>
            </a:pPr>
            <a:r>
              <a:rPr lang="en-US" sz="1600" dirty="0">
                <a:sym typeface="Wingdings" panose="05000000000000000000" pitchFamily="2" charset="2"/>
              </a:rPr>
              <a:t>Write imaging code</a:t>
            </a:r>
          </a:p>
          <a:p>
            <a:pPr marL="342900" indent="-342900">
              <a:buAutoNum type="arabicParenR"/>
            </a:pPr>
            <a:r>
              <a:rPr lang="en-US" sz="1600" dirty="0">
                <a:sym typeface="Wingdings" panose="05000000000000000000" pitchFamily="2" charset="2"/>
              </a:rPr>
              <a:t>Write in Python</a:t>
            </a:r>
          </a:p>
          <a:p>
            <a:pPr marL="342900" indent="-342900">
              <a:buAutoNum type="arabicParenR"/>
            </a:pPr>
            <a:r>
              <a:rPr lang="en-US" sz="1600" dirty="0">
                <a:sym typeface="Wingdings" panose="05000000000000000000" pitchFamily="2" charset="2"/>
              </a:rPr>
              <a:t>Deploy on each AFM to see if it works for perovskites</a:t>
            </a:r>
          </a:p>
          <a:p>
            <a:pPr marL="342900" indent="-342900">
              <a:buAutoNum type="arabicParenR"/>
            </a:pPr>
            <a:r>
              <a:rPr lang="en-US" sz="1600" dirty="0">
                <a:sym typeface="Wingdings" panose="05000000000000000000" pitchFamily="2" charset="2"/>
              </a:rPr>
              <a:t>Profit</a:t>
            </a:r>
            <a:endParaRPr lang="en-US" sz="1600" dirty="0"/>
          </a:p>
        </p:txBody>
      </p:sp>
      <p:cxnSp>
        <p:nvCxnSpPr>
          <p:cNvPr id="8" name="Straight Arrow Connector 7"/>
          <p:cNvCxnSpPr/>
          <p:nvPr/>
        </p:nvCxnSpPr>
        <p:spPr>
          <a:xfrm>
            <a:off x="3484605" y="1153297"/>
            <a:ext cx="403654" cy="6672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189470" y="749643"/>
            <a:ext cx="3674076" cy="634314"/>
          </a:xfrm>
          <a:prstGeom prst="ellipse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00303" y="4079654"/>
            <a:ext cx="2973860" cy="1271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21295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3179717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dirty="0"/>
              <a:t>Heterodyne setup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781168" y="86497"/>
            <a:ext cx="84108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w1 = 82.619 (topography), w2 = 525.478 (detect SKPM), </a:t>
            </a:r>
            <a:r>
              <a:rPr lang="en-US" dirty="0" err="1" smtClean="0"/>
              <a:t>delta_w</a:t>
            </a:r>
            <a:r>
              <a:rPr lang="en-US" dirty="0" smtClean="0"/>
              <a:t> (</a:t>
            </a:r>
            <a:r>
              <a:rPr lang="en-US" dirty="0" err="1" smtClean="0"/>
              <a:t>Vac</a:t>
            </a:r>
            <a:r>
              <a:rPr lang="en-US" dirty="0" smtClean="0"/>
              <a:t>) = 442.859 kHz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47028" y="902168"/>
            <a:ext cx="6011114" cy="374384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166022" y="1136822"/>
            <a:ext cx="412715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Wrong magnitude </a:t>
            </a:r>
            <a:r>
              <a:rPr lang="en-US" dirty="0" smtClean="0">
                <a:sym typeface="Wingdings" panose="05000000000000000000" pitchFamily="2" charset="2"/>
              </a:rPr>
              <a:t> But it seems to show something (I’m applying a square wave pulse to the graphite sample)</a:t>
            </a:r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088" y="4193068"/>
            <a:ext cx="10926700" cy="356284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88195" y="3521676"/>
            <a:ext cx="3657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/>
              <a:t>Lockin</a:t>
            </a:r>
            <a:r>
              <a:rPr lang="en-US" dirty="0" smtClean="0"/>
              <a:t> Setting</a:t>
            </a:r>
          </a:p>
          <a:p>
            <a:endParaRPr lang="en-US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39083" y="3954846"/>
            <a:ext cx="8240275" cy="5572903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0655300" y="3187700"/>
            <a:ext cx="20193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Feedback </a:t>
            </a:r>
            <a:r>
              <a:rPr lang="en-US" smtClean="0"/>
              <a:t>loop setting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35539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Troubleshooting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Note that the system doesn’t like it when you pause, it doesn’t seem to write the amplitude to the LIA correctly (the tip amplitude)</a:t>
            </a:r>
          </a:p>
          <a:p>
            <a:r>
              <a:rPr lang="en-US" dirty="0"/>
              <a:t>Need to manually input the instrument modules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6120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304909"/>
          </a:xfrm>
        </p:spPr>
        <p:txBody>
          <a:bodyPr>
            <a:normAutofit fontScale="90000"/>
          </a:bodyPr>
          <a:lstStyle/>
          <a:p>
            <a:r>
              <a:rPr lang="en-US" sz="2400" b="1" u="sng" dirty="0" smtClean="0"/>
              <a:t>Debugging on PV-AFM: 1/4/2025+</a:t>
            </a:r>
            <a:endParaRPr lang="en-US" sz="2400" b="1" u="sng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727364" y="-852025"/>
            <a:ext cx="12066288" cy="670044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5620" y="517890"/>
            <a:ext cx="74054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AM-SKPM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6059" y="1260365"/>
            <a:ext cx="5439534" cy="367716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39263" y="401053"/>
            <a:ext cx="4419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AM-SKPM with P=200, I=5000 Using </a:t>
            </a:r>
            <a:r>
              <a:rPr lang="en-US" dirty="0" err="1" smtClean="0"/>
              <a:t>Moku</a:t>
            </a:r>
            <a:r>
              <a:rPr lang="en-US" dirty="0" smtClean="0"/>
              <a:t> as feedback loop</a:t>
            </a:r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430" y="5848422"/>
            <a:ext cx="6045587" cy="4154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49851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386652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481293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2546008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5071771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622853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2570807BC54334B955E8F507409506B" ma:contentTypeVersion="19" ma:contentTypeDescription="Create a new document." ma:contentTypeScope="" ma:versionID="3308cc3a81fea5e96715a057eedf58fd">
  <xsd:schema xmlns:xsd="http://www.w3.org/2001/XMLSchema" xmlns:xs="http://www.w3.org/2001/XMLSchema" xmlns:p="http://schemas.microsoft.com/office/2006/metadata/properties" xmlns:ns2="51c5472e-7f4c-4039-8ce2-353e93026c19" xmlns:ns3="ab06a5aa-8e31-4bdb-9b13-38c58a92ec8a" xmlns:ns4="b8ddd543-dfbc-4d7e-a342-bc7c17a6c04b" targetNamespace="http://schemas.microsoft.com/office/2006/metadata/properties" ma:root="true" ma:fieldsID="a2c96afffccc7d90dde06ccff3b66b30" ns2:_="" ns3:_="" ns4:_="">
    <xsd:import namespace="51c5472e-7f4c-4039-8ce2-353e93026c19"/>
    <xsd:import namespace="ab06a5aa-8e31-4bdb-9b13-38c58a92ec8a"/>
    <xsd:import namespace="b8ddd543-dfbc-4d7e-a342-bc7c17a6c04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Location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4:SharedWithUsers" minOccurs="0"/>
                <xsd:element ref="ns4:SharedWithDetails" minOccurs="0"/>
                <xsd:element ref="ns2:MediaServiceSearchProperties" minOccurs="0"/>
                <xsd:element ref="ns2:MediaServiceObjectDetectorVersion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1c5472e-7f4c-4039-8ce2-353e93026c1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0" nillable="true" ma:taxonomy="true" ma:internalName="lcf76f155ced4ddcb4097134ff3c332f" ma:taxonomyFieldName="MediaServiceImageTags" ma:displayName="Image Tags" ma:readOnly="false" ma:fieldId="{5cf76f15-5ced-4ddc-b409-7134ff3c332f}" ma:taxonomyMulti="true" ma:sspId="e20148b9-20a4-48a0-acba-ba52d68a37a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5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BillingMetadata" ma:index="26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b06a5aa-8e31-4bdb-9b13-38c58a92ec8a" elementFormDefault="qualified">
    <xsd:import namespace="http://schemas.microsoft.com/office/2006/documentManagement/types"/>
    <xsd:import namespace="http://schemas.microsoft.com/office/infopath/2007/PartnerControls"/>
    <xsd:element name="TaxCatchAll" ma:index="21" nillable="true" ma:displayName="Taxonomy Catch All Column" ma:hidden="true" ma:list="{c0744f57-cb62-4511-abae-cc5140bab4dd}" ma:internalName="TaxCatchAll" ma:showField="CatchAllData" ma:web="b8ddd543-dfbc-4d7e-a342-bc7c17a6c04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8ddd543-dfbc-4d7e-a342-bc7c17a6c04b" elementFormDefault="qualified">
    <xsd:import namespace="http://schemas.microsoft.com/office/2006/documentManagement/types"/>
    <xsd:import namespace="http://schemas.microsoft.com/office/infopath/2007/PartnerControls"/>
    <xsd:element name="SharedWithUsers" ma:index="2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ab06a5aa-8e31-4bdb-9b13-38c58a92ec8a" xsi:nil="true"/>
    <lcf76f155ced4ddcb4097134ff3c332f xmlns="51c5472e-7f4c-4039-8ce2-353e93026c19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024921E5-77A1-4B4A-8D71-3005577B48E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1c5472e-7f4c-4039-8ce2-353e93026c19"/>
    <ds:schemaRef ds:uri="ab06a5aa-8e31-4bdb-9b13-38c58a92ec8a"/>
    <ds:schemaRef ds:uri="b8ddd543-dfbc-4d7e-a342-bc7c17a6c04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05E447A4-4EA2-4F0E-8736-12FA7136AC5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69B3201-94C6-4116-A2BE-6B117FE5BB1C}">
  <ds:schemaRefs>
    <ds:schemaRef ds:uri="http://purl.org/dc/elements/1.1/"/>
    <ds:schemaRef ds:uri="http://purl.org/dc/terms/"/>
    <ds:schemaRef ds:uri="http://www.w3.org/XML/1998/namespace"/>
    <ds:schemaRef ds:uri="http://purl.org/dc/dcmitype/"/>
    <ds:schemaRef ds:uri="http://schemas.microsoft.com/office/2006/documentManagement/types"/>
    <ds:schemaRef ds:uri="http://schemas.openxmlformats.org/package/2006/metadata/core-properties"/>
    <ds:schemaRef ds:uri="http://schemas.microsoft.com/office/infopath/2007/PartnerControls"/>
    <ds:schemaRef ds:uri="51c5472e-7f4c-4039-8ce2-353e93026c19"/>
    <ds:schemaRef ds:uri="b8ddd543-dfbc-4d7e-a342-bc7c17a6c04b"/>
    <ds:schemaRef ds:uri="ab06a5aa-8e31-4bdb-9b13-38c58a92ec8a"/>
    <ds:schemaRef ds:uri="http://schemas.microsoft.com/office/2006/metadata/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212663</TotalTime>
  <Words>657</Words>
  <Application>Microsoft Office PowerPoint</Application>
  <PresentationFormat>Widescreen</PresentationFormat>
  <Paragraphs>76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Calibri</vt:lpstr>
      <vt:lpstr>Calibri Light</vt:lpstr>
      <vt:lpstr>Wingdings</vt:lpstr>
      <vt:lpstr>Office Theme</vt:lpstr>
      <vt:lpstr>Moku business for SKPM</vt:lpstr>
      <vt:lpstr>PowerPoint Presentation</vt:lpstr>
      <vt:lpstr>FM version 2, like old code (using ARC internal LIA to spoof theta out)</vt:lpstr>
      <vt:lpstr>PowerPoint Presentation</vt:lpstr>
      <vt:lpstr>PowerPoint Presentation</vt:lpstr>
      <vt:lpstr>AM-Moku redone 2026</vt:lpstr>
      <vt:lpstr>Trying to integrate both AM and FM on same multiinstrument mode</vt:lpstr>
      <vt:lpstr>PowerPoint Presentation</vt:lpstr>
      <vt:lpstr>PowerPoint Presentation</vt:lpstr>
      <vt:lpstr>Heterodyne setup</vt:lpstr>
      <vt:lpstr>PowerPoint Presentation</vt:lpstr>
      <vt:lpstr>Troubleshooting</vt:lpstr>
      <vt:lpstr>Debugging on PV-AFM: 1/4/2025+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Ginger Lab</dc:creator>
  <cp:lastModifiedBy>Maddie Breshears</cp:lastModifiedBy>
  <cp:revision>80</cp:revision>
  <dcterms:created xsi:type="dcterms:W3CDTF">2024-02-13T01:25:08Z</dcterms:created>
  <dcterms:modified xsi:type="dcterms:W3CDTF">2026-06-03T20:16:00Z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0x01010062570807BC54334B955E8F507409506B</vt:lpwstr>
  </property>
</Properties>
</file>